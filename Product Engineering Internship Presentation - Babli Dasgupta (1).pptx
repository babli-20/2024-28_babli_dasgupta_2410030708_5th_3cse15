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7.png"/><Relationship Id="rId8" Type="http://schemas.openxmlformats.org/officeDocument/2006/relationships/image" Target="../media/image-5-7.png"/><Relationship Id="rId9" Type="http://schemas.openxmlformats.org/officeDocument/2006/relationships/image" Target="../media/image-5-9.png"/><Relationship Id="rId10" Type="http://schemas.openxmlformats.org/officeDocument/2006/relationships/image" Target="../media/image-5-9.png"/><Relationship Id="rId11" Type="http://schemas.openxmlformats.org/officeDocument/2006/relationships/image" Target="../media/image-5-11.png"/><Relationship Id="rId12" Type="http://schemas.openxmlformats.org/officeDocument/2006/relationships/image" Target="../media/image-5-11.png"/><Relationship Id="rId13" Type="http://schemas.openxmlformats.org/officeDocument/2006/relationships/image" Target="../media/image-5-13.png"/><Relationship Id="rId14" Type="http://schemas.openxmlformats.org/officeDocument/2006/relationships/image" Target="../media/image-5-13.png"/><Relationship Id="rId15" Type="http://schemas.openxmlformats.org/officeDocument/2006/relationships/image" Target="../media/image-5-15.png"/><Relationship Id="rId16" Type="http://schemas.openxmlformats.org/officeDocument/2006/relationships/image" Target="../media/image-5-15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image" Target="../media/image-10-1.png"/><Relationship Id="rId10" Type="http://schemas.openxmlformats.org/officeDocument/2006/relationships/image" Target="../media/image-10-1.png"/><Relationship Id="rId11" Type="http://schemas.openxmlformats.org/officeDocument/2006/relationships/image" Target="../media/image-10-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519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51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337560"/>
            <a:ext cx="23774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Babli Dasgupta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2410030708   |   B.Tech (CSE)   |   Batch: 2024–28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 Pvt. Ltd.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76200" dist="25400" dir="5400000">
              <a:srgbClr val="9AA6C7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5773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buil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7419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33172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8368" y="26060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 Pvt. Ltd.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76200" dist="25400" dir="5400000">
              <a:srgbClr val="9AA6C7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15773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7419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33172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20440" y="26060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2784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76200" dist="25400" dir="5400000">
              <a:srgbClr val="9AA6C7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2904" y="15773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174193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33172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82512" y="26060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34856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76200" dist="25400" dir="5400000">
              <a:srgbClr val="9AA6C7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94976" y="15773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userti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568" y="174193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44584" y="233172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AREA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244584" y="260604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 — CRM Finance module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11094415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374904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involved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68680" y="4160520"/>
            <a:ext cx="104543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the development and improvement of the CRM Finance module, including transaction, revenue, refund and payout-related screens, along with frontend development, UI/UX improvements, debugging and testing.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4709160"/>
          </a:xfrm>
          <a:prstGeom prst="roundRect">
            <a:avLst>
              <a:gd name="adj" fmla="val 1553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995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MarTechAdda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 is a technology and product company that builds software for client engagement, financial workflows, CRM operations, and other related business processes.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36283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520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Environment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14400" y="42519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was completed remotely as part of the MarTechAdda Startup Internship Program 2026. Work took place within a product-development team, following collaborative development practices used across the organisation — including working with other team members on CRM development, financial modules and general application improvements. The internship was supervised by Ritesh Kumar.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178040" y="1417320"/>
            <a:ext cx="4465015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7379208" y="1527048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ORGANIZATION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379208" y="1801368"/>
            <a:ext cx="40626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technology company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178040" y="2560320"/>
            <a:ext cx="4465015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7379208" y="2670048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379208" y="2944368"/>
            <a:ext cx="40626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engagement, financial workflows, CRM operations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178040" y="3703320"/>
            <a:ext cx="4465015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7379208" y="3813048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379208" y="4087368"/>
            <a:ext cx="40626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MarTechAdda Startup Internship Program 2026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178040" y="4846320"/>
            <a:ext cx="4465015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7379208" y="4956048"/>
            <a:ext cx="4062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379208" y="5230368"/>
            <a:ext cx="40626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Kumar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45820" y="1778508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196504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536192"/>
            <a:ext cx="9448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MarTechAdda’s client base and product requirements grew, financial operations — transaction tracking, revenue management, refunds and payouts — needed a more structured and auditable approach. The CRM did not present financial information through a single, unified workflow, leaving gaps in visibility around transaction status, refunds, and payouts.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Gap: Refund Lifecycle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specifically needed a clearly defined lifecycle, so that every stage of a refund request could be tracked in a consistent, systematic way — rather than being handled case by case.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1234440" y="4562856"/>
            <a:ext cx="438912" cy="43891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2" name="Image 1" descr="/home/claude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79" y="4668195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" y="5056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359152" y="4654296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523744" y="44348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3209544" y="4562856"/>
            <a:ext cx="438912" cy="43891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7" name="Image 2" descr="/home/claude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883" y="4668195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69464" y="5056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334256" y="4654296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498848" y="44348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5184648" y="4562856"/>
            <a:ext cx="438912" cy="43891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22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987" y="4668195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44568" y="5056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309360" y="4654296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73952" y="44348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6" name="Shape 20"/>
          <p:cNvSpPr/>
          <p:nvPr/>
        </p:nvSpPr>
        <p:spPr>
          <a:xfrm>
            <a:off x="7159752" y="4562856"/>
            <a:ext cx="438912" cy="43891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27" name="Image 4" descr="/home/claude/icons/co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091" y="4668195"/>
            <a:ext cx="228234" cy="22823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519672" y="5056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284464" y="4654296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449056" y="44348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2E7D32"/>
          </a:solidFill>
          <a:ln/>
        </p:spPr>
      </p:sp>
      <p:sp>
        <p:nvSpPr>
          <p:cNvPr id="31" name="Shape 24"/>
          <p:cNvSpPr/>
          <p:nvPr/>
        </p:nvSpPr>
        <p:spPr>
          <a:xfrm>
            <a:off x="9134856" y="4562856"/>
            <a:ext cx="438912" cy="438912"/>
          </a:xfrm>
          <a:prstGeom prst="ellipse">
            <a:avLst/>
          </a:prstGeom>
          <a:solidFill>
            <a:srgbClr val="256428"/>
          </a:solidFill>
          <a:ln/>
        </p:spPr>
      </p:sp>
      <p:pic>
        <p:nvPicPr>
          <p:cNvPr id="32" name="Image 5" descr="/home/claude/icons/fla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195" y="4668195"/>
            <a:ext cx="228234" cy="22823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94776" y="505663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429000" y="5394960"/>
            <a:ext cx="0" cy="256032"/>
          </a:xfrm>
          <a:prstGeom prst="line">
            <a:avLst/>
          </a:prstGeom>
          <a:noFill/>
          <a:ln w="19050">
            <a:solidFill>
              <a:srgbClr val="B3261E"/>
            </a:solidFill>
            <a:prstDash val="dash"/>
          </a:ln>
        </p:spPr>
      </p:sp>
      <p:sp>
        <p:nvSpPr>
          <p:cNvPr id="35" name="Shape 27"/>
          <p:cNvSpPr/>
          <p:nvPr/>
        </p:nvSpPr>
        <p:spPr>
          <a:xfrm>
            <a:off x="2203704" y="5650992"/>
            <a:ext cx="3639312" cy="457200"/>
          </a:xfrm>
          <a:prstGeom prst="roundRect">
            <a:avLst>
              <a:gd name="adj" fmla="val 12000"/>
            </a:avLst>
          </a:prstGeom>
          <a:solidFill>
            <a:srgbClr val="FCEBE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340864" y="5715000"/>
            <a:ext cx="329184" cy="329184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7" name="Image 6" descr="/home/claude/icons/time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4016" y="5788152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752344" y="565099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refund request does not move forward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1519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733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laptop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05026"/>
            <a:ext cx="285293" cy="2852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673352"/>
            <a:ext cx="548640" cy="548640"/>
          </a:xfrm>
          <a:prstGeom prst="ellipse">
            <a:avLst/>
          </a:prstGeom>
          <a:solidFill>
            <a:srgbClr val="2A356E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7" name="Image 1" descr="/home/claude/icons/laptop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80136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49047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in product-oriented software engineering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624328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15194A"/>
          </a:solidFill>
          <a:ln/>
        </p:spPr>
      </p:sp>
      <p:sp>
        <p:nvSpPr>
          <p:cNvPr id="10" name="Shape 6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/home/claude/icons/reac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012034"/>
            <a:ext cx="285293" cy="28529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2A356E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13" name="Image 3" descr="/home/claude/icons/rea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00837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2697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working knowledge of React.js, TypeScript and Tailwind CSS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48640" y="3831336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15194A"/>
          </a:solidFill>
          <a:ln/>
        </p:spPr>
      </p:sp>
      <p:sp>
        <p:nvSpPr>
          <p:cNvPr id="16" name="Shape 10"/>
          <p:cNvSpPr/>
          <p:nvPr/>
        </p:nvSpPr>
        <p:spPr>
          <a:xfrm>
            <a:off x="822960" y="4087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/home/claude/icons/window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4219042"/>
            <a:ext cx="285293" cy="285293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22960" y="4087368"/>
            <a:ext cx="548640" cy="548640"/>
          </a:xfrm>
          <a:prstGeom prst="ellipse">
            <a:avLst/>
          </a:prstGeom>
          <a:solidFill>
            <a:srgbClr val="2A356E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19" name="Image 5" descr="/home/claude/icons/window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215384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08760" y="390448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frontend interfaces for real-world business applications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548640" y="5038344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15194A"/>
          </a:solidFill>
          <a:ln/>
        </p:spPr>
      </p:sp>
      <p:sp>
        <p:nvSpPr>
          <p:cNvPr id="22" name="Shape 14"/>
          <p:cNvSpPr/>
          <p:nvPr/>
        </p:nvSpPr>
        <p:spPr>
          <a:xfrm>
            <a:off x="822960" y="52943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6" descr="/home/claude/icons/coin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4" y="5426050"/>
            <a:ext cx="285293" cy="285293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22960" y="5294376"/>
            <a:ext cx="548640" cy="548640"/>
          </a:xfrm>
          <a:prstGeom prst="ellipse">
            <a:avLst/>
          </a:prstGeom>
          <a:solidFill>
            <a:srgbClr val="2A356E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25" name="Image 7" descr="/home/claude/icons/coin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" y="5422392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508760" y="511149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the CRM’s Finance module — transactions, revenue, refunds and payouts</a:t>
            </a:r>
            <a:endParaRPr lang="en-US" sz="1150" dirty="0"/>
          </a:p>
        </p:txBody>
      </p:sp>
      <p:sp>
        <p:nvSpPr>
          <p:cNvPr id="27" name="Shape 17"/>
          <p:cNvSpPr/>
          <p:nvPr/>
        </p:nvSpPr>
        <p:spPr>
          <a:xfrm>
            <a:off x="6217920" y="1417320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15194A"/>
          </a:solidFill>
          <a:ln/>
        </p:spPr>
      </p:sp>
      <p:sp>
        <p:nvSpPr>
          <p:cNvPr id="28" name="Shape 18"/>
          <p:cNvSpPr/>
          <p:nvPr/>
        </p:nvSpPr>
        <p:spPr>
          <a:xfrm>
            <a:off x="6492240" y="16733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8" descr="/home/claude/icons/sync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3914" y="1805026"/>
            <a:ext cx="285293" cy="285293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6492240" y="1673352"/>
            <a:ext cx="548640" cy="548640"/>
          </a:xfrm>
          <a:prstGeom prst="ellipse">
            <a:avLst/>
          </a:prstGeom>
          <a:solidFill>
            <a:srgbClr val="2A356E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31" name="Image 9" descr="/home/claude/icons/sync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0256" y="1801368"/>
            <a:ext cx="292608" cy="29260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178040" y="149047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structured, easy-to-audit refund lifecycle</a:t>
            </a:r>
            <a:endParaRPr lang="en-US" sz="1150" dirty="0"/>
          </a:p>
        </p:txBody>
      </p:sp>
      <p:sp>
        <p:nvSpPr>
          <p:cNvPr id="33" name="Shape 21"/>
          <p:cNvSpPr/>
          <p:nvPr/>
        </p:nvSpPr>
        <p:spPr>
          <a:xfrm>
            <a:off x="6217920" y="2624328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15194A"/>
          </a:solidFill>
          <a:ln/>
        </p:spPr>
      </p:sp>
      <p:sp>
        <p:nvSpPr>
          <p:cNvPr id="34" name="Shape 22"/>
          <p:cNvSpPr/>
          <p:nvPr/>
        </p:nvSpPr>
        <p:spPr>
          <a:xfrm>
            <a:off x="649224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10" descr="/home/claude/icons/usertie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3914" y="3012034"/>
            <a:ext cx="285293" cy="285293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6492240" y="2880360"/>
            <a:ext cx="548640" cy="548640"/>
          </a:xfrm>
          <a:prstGeom prst="ellipse">
            <a:avLst/>
          </a:prstGeom>
          <a:solidFill>
            <a:srgbClr val="2A356E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37" name="Image 11" descr="/home/claude/icons/usertie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0256" y="3008376"/>
            <a:ext cx="292608" cy="29260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7178040" y="2697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interfaces for client management and financial information</a:t>
            </a:r>
            <a:endParaRPr lang="en-US" sz="1150" dirty="0"/>
          </a:p>
        </p:txBody>
      </p:sp>
      <p:sp>
        <p:nvSpPr>
          <p:cNvPr id="39" name="Shape 25"/>
          <p:cNvSpPr/>
          <p:nvPr/>
        </p:nvSpPr>
        <p:spPr>
          <a:xfrm>
            <a:off x="6217920" y="3831336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15194A"/>
          </a:solidFill>
          <a:ln/>
        </p:spPr>
      </p:sp>
      <p:sp>
        <p:nvSpPr>
          <p:cNvPr id="40" name="Shape 26"/>
          <p:cNvSpPr/>
          <p:nvPr/>
        </p:nvSpPr>
        <p:spPr>
          <a:xfrm>
            <a:off x="6492240" y="4087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12" descr="/home/claude/icons/git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3914" y="4219042"/>
            <a:ext cx="285293" cy="285293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6492240" y="4087368"/>
            <a:ext cx="548640" cy="548640"/>
          </a:xfrm>
          <a:prstGeom prst="ellipse">
            <a:avLst/>
          </a:prstGeom>
          <a:solidFill>
            <a:srgbClr val="2A356E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43" name="Image 13" descr="/home/claude/icons/git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0256" y="4215384"/>
            <a:ext cx="292608" cy="292608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7178040" y="390448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and GitHub effectively in a collaborative development process</a:t>
            </a:r>
            <a:endParaRPr lang="en-US" sz="1150" dirty="0"/>
          </a:p>
        </p:txBody>
      </p:sp>
      <p:sp>
        <p:nvSpPr>
          <p:cNvPr id="45" name="Shape 29"/>
          <p:cNvSpPr/>
          <p:nvPr/>
        </p:nvSpPr>
        <p:spPr>
          <a:xfrm>
            <a:off x="6217920" y="5038344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15194A"/>
          </a:solidFill>
          <a:ln/>
        </p:spPr>
      </p:sp>
      <p:sp>
        <p:nvSpPr>
          <p:cNvPr id="46" name="Shape 30"/>
          <p:cNvSpPr/>
          <p:nvPr/>
        </p:nvSpPr>
        <p:spPr>
          <a:xfrm>
            <a:off x="6492240" y="52943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7" name="Image 14" descr="/home/claude/icons/bug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3914" y="5426050"/>
            <a:ext cx="285293" cy="285293"/>
          </a:xfrm>
          <a:prstGeom prst="rect">
            <a:avLst/>
          </a:prstGeom>
        </p:spPr>
      </p:pic>
      <p:sp>
        <p:nvSpPr>
          <p:cNvPr id="48" name="Shape 31"/>
          <p:cNvSpPr/>
          <p:nvPr/>
        </p:nvSpPr>
        <p:spPr>
          <a:xfrm>
            <a:off x="6492240" y="5294376"/>
            <a:ext cx="548640" cy="548640"/>
          </a:xfrm>
          <a:prstGeom prst="ellipse">
            <a:avLst/>
          </a:prstGeom>
          <a:solidFill>
            <a:srgbClr val="2A356E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49" name="Image 15" descr="/home/claude/icons/bug_whit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0256" y="5422392"/>
            <a:ext cx="292608" cy="292608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7178040" y="511149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experience in debugging, testing, and improving frontend features</a:t>
            </a:r>
            <a:endParaRPr lang="en-US" sz="1150" dirty="0"/>
          </a:p>
        </p:txBody>
      </p:sp>
      <p:sp>
        <p:nvSpPr>
          <p:cNvPr id="51" name="Text 3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Finance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" y="1842516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7" name="Image 0" descr="/home/claude/icons/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1" y="1963217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8249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Dashboard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62763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3561588" y="1842516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1" name="Image 1" descr="/home/claude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89" y="1963217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33088" y="168249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63056" y="162763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6368796" y="1842516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5" name="Image 2" descr="/home/claude/icons/und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497" y="1963217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0296" y="168249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Tracking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970264" y="162763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9176004" y="1842516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9" name="Image 3" descr="/home/claude/icons/money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705" y="1963217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747504" y="168249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Tracking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272491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754380" y="2939796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23" name="Image 4" descr="/home/claude/icons/wall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1" y="3060497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277977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&amp; Expenditure Tracking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355848" y="272491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26" name="Shape 19"/>
          <p:cNvSpPr/>
          <p:nvPr/>
        </p:nvSpPr>
        <p:spPr>
          <a:xfrm>
            <a:off x="3561588" y="2939796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27" name="Image 5" descr="/home/claude/icons/userfriend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289" y="3060497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133088" y="277977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Credit Tracking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163056" y="272491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30" name="Shape 22"/>
          <p:cNvSpPr/>
          <p:nvPr/>
        </p:nvSpPr>
        <p:spPr>
          <a:xfrm>
            <a:off x="6368796" y="2939796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31" name="Image 6" descr="/home/claude/icons/listol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9497" y="3060497"/>
            <a:ext cx="261518" cy="26151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940296" y="277977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Lifecycle Management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Lifecycle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548640" y="4434840"/>
            <a:ext cx="1810512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35" name="Shape 26"/>
          <p:cNvSpPr/>
          <p:nvPr/>
        </p:nvSpPr>
        <p:spPr>
          <a:xfrm>
            <a:off x="1202436" y="4567428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36" name="Image 7" descr="/home/claude/icons/fil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137" y="4688129"/>
            <a:ext cx="261518" cy="26151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4360" y="51480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2359152" y="46908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29"/>
          <p:cNvSpPr/>
          <p:nvPr/>
        </p:nvSpPr>
        <p:spPr>
          <a:xfrm>
            <a:off x="2523744" y="4434840"/>
            <a:ext cx="1810512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40" name="Shape 30"/>
          <p:cNvSpPr/>
          <p:nvPr/>
        </p:nvSpPr>
        <p:spPr>
          <a:xfrm>
            <a:off x="3177540" y="4567428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41" name="Image 8" descr="/home/claude/icons/search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8241" y="4688129"/>
            <a:ext cx="261518" cy="26151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2569464" y="51480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050" dirty="0"/>
          </a:p>
        </p:txBody>
      </p:sp>
      <p:sp>
        <p:nvSpPr>
          <p:cNvPr id="43" name="Text 32"/>
          <p:cNvSpPr/>
          <p:nvPr/>
        </p:nvSpPr>
        <p:spPr>
          <a:xfrm>
            <a:off x="4334256" y="46908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33"/>
          <p:cNvSpPr/>
          <p:nvPr/>
        </p:nvSpPr>
        <p:spPr>
          <a:xfrm>
            <a:off x="4498848" y="4434840"/>
            <a:ext cx="1810512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45" name="Shape 34"/>
          <p:cNvSpPr/>
          <p:nvPr/>
        </p:nvSpPr>
        <p:spPr>
          <a:xfrm>
            <a:off x="5152644" y="4567428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46" name="Image 9" descr="/home/claude/icons/check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3345" y="4688129"/>
            <a:ext cx="261518" cy="26151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544568" y="51480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48" name="Text 36"/>
          <p:cNvSpPr/>
          <p:nvPr/>
        </p:nvSpPr>
        <p:spPr>
          <a:xfrm>
            <a:off x="6309360" y="46908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37"/>
          <p:cNvSpPr/>
          <p:nvPr/>
        </p:nvSpPr>
        <p:spPr>
          <a:xfrm>
            <a:off x="6473952" y="4434840"/>
            <a:ext cx="1810512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50" name="Shape 38"/>
          <p:cNvSpPr/>
          <p:nvPr/>
        </p:nvSpPr>
        <p:spPr>
          <a:xfrm>
            <a:off x="7127748" y="4567428"/>
            <a:ext cx="502920" cy="50292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51" name="Image 10" descr="/home/claude/icons/cogs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8449" y="4688129"/>
            <a:ext cx="261518" cy="26151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6519672" y="51480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53" name="Text 40"/>
          <p:cNvSpPr/>
          <p:nvPr/>
        </p:nvSpPr>
        <p:spPr>
          <a:xfrm>
            <a:off x="8284464" y="46908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4" name="Shape 41"/>
          <p:cNvSpPr/>
          <p:nvPr/>
        </p:nvSpPr>
        <p:spPr>
          <a:xfrm>
            <a:off x="8449056" y="4434840"/>
            <a:ext cx="1810512" cy="1051560"/>
          </a:xfrm>
          <a:prstGeom prst="roundRect">
            <a:avLst>
              <a:gd name="adj" fmla="val 6087"/>
            </a:avLst>
          </a:prstGeom>
          <a:solidFill>
            <a:srgbClr val="2E7D32"/>
          </a:solidFill>
          <a:ln/>
        </p:spPr>
      </p:sp>
      <p:sp>
        <p:nvSpPr>
          <p:cNvPr id="55" name="Shape 42"/>
          <p:cNvSpPr/>
          <p:nvPr/>
        </p:nvSpPr>
        <p:spPr>
          <a:xfrm>
            <a:off x="9102852" y="4567428"/>
            <a:ext cx="502920" cy="502920"/>
          </a:xfrm>
          <a:prstGeom prst="ellipse">
            <a:avLst/>
          </a:prstGeom>
          <a:solidFill>
            <a:srgbClr val="256428"/>
          </a:solidFill>
          <a:ln/>
        </p:spPr>
      </p:sp>
      <p:pic>
        <p:nvPicPr>
          <p:cNvPr id="56" name="Image 11" descr="/home/claude/icons/flag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3553" y="4688129"/>
            <a:ext cx="261518" cy="261518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8494776" y="514807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58" name="Shape 44"/>
          <p:cNvSpPr/>
          <p:nvPr/>
        </p:nvSpPr>
        <p:spPr>
          <a:xfrm>
            <a:off x="3429000" y="5486400"/>
            <a:ext cx="0" cy="320040"/>
          </a:xfrm>
          <a:prstGeom prst="line">
            <a:avLst/>
          </a:prstGeom>
          <a:noFill/>
          <a:ln w="19050">
            <a:solidFill>
              <a:srgbClr val="B3261E"/>
            </a:solidFill>
            <a:prstDash val="dash"/>
          </a:ln>
        </p:spPr>
      </p:sp>
      <p:sp>
        <p:nvSpPr>
          <p:cNvPr id="59" name="Shape 45"/>
          <p:cNvSpPr/>
          <p:nvPr/>
        </p:nvSpPr>
        <p:spPr>
          <a:xfrm>
            <a:off x="2249424" y="5806440"/>
            <a:ext cx="2359152" cy="502920"/>
          </a:xfrm>
          <a:prstGeom prst="roundRect">
            <a:avLst>
              <a:gd name="adj" fmla="val 10909"/>
            </a:avLst>
          </a:prstGeom>
          <a:solidFill>
            <a:srgbClr val="FCEBEA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60" name="Image 12" descr="/home/claude/icons/times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86584" y="5888736"/>
            <a:ext cx="329184" cy="329184"/>
          </a:xfrm>
          <a:prstGeom prst="rect">
            <a:avLst/>
          </a:prstGeom>
        </p:spPr>
      </p:pic>
      <p:sp>
        <p:nvSpPr>
          <p:cNvPr id="61" name="Shape 46"/>
          <p:cNvSpPr/>
          <p:nvPr/>
        </p:nvSpPr>
        <p:spPr>
          <a:xfrm>
            <a:off x="2368296" y="5870448"/>
            <a:ext cx="365760" cy="3657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62" name="Image 13" descr="/home/claude/icons/times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0592" y="5952744"/>
            <a:ext cx="201168" cy="201168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2798064" y="58064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50" dirty="0"/>
          </a:p>
        </p:txBody>
      </p:sp>
      <p:sp>
        <p:nvSpPr>
          <p:cNvPr id="64" name="Text 4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and Tools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057949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6718" y="20665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/home/claude/icons/reac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948" y="2215774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788920"/>
            <a:ext cx="1911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07757" y="1874520"/>
            <a:ext cx="2057949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5835" y="20665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cod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065" y="2215774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909" y="2788920"/>
            <a:ext cx="1911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66873" y="1874520"/>
            <a:ext cx="2057949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84952" y="20665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/home/claude/icons/cs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182" y="2215774"/>
            <a:ext cx="323332" cy="3233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40025" y="2788920"/>
            <a:ext cx="1911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25990" y="1874520"/>
            <a:ext cx="2057949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4068" y="20665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/home/claude/icons/htm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298" y="2215774"/>
            <a:ext cx="323332" cy="3233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99142" y="2788920"/>
            <a:ext cx="1911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Principles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585107" y="1874520"/>
            <a:ext cx="2057949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303185" y="20665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/home/claude/icons/mobilea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415" y="2215774"/>
            <a:ext cx="323332" cy="3233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58259" y="2788920"/>
            <a:ext cx="1911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Development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Collaboration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548640" y="3977640"/>
            <a:ext cx="2622728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549108" y="416966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5" descr="/home/claude/icons/gi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8338" y="4318894"/>
            <a:ext cx="323332" cy="3233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21792" y="489204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3372536" y="3977640"/>
            <a:ext cx="2622728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373004" y="416966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6" descr="/home/claude/icons/github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2234" y="4318894"/>
            <a:ext cx="323332" cy="3233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445688" y="489204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6196432" y="3977640"/>
            <a:ext cx="2622728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7196900" y="416966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7" descr="/home/claude/icons/robot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6130" y="4318894"/>
            <a:ext cx="323332" cy="3233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269584" y="489204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Dev Tools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9020327" y="3977640"/>
            <a:ext cx="2622728" cy="1417320"/>
          </a:xfrm>
          <a:prstGeom prst="roundRect">
            <a:avLst>
              <a:gd name="adj" fmla="val 5161"/>
            </a:avLst>
          </a:prstGeom>
          <a:solidFill>
            <a:srgbClr val="EAF0FC"/>
          </a:solidFill>
          <a:ln/>
          <a:effectLst>
            <a:outerShdw sx="100000" sy="100000" kx="0" ky="0" algn="bl" rotWithShape="0" blurRad="63500" dist="25400" dir="5400000">
              <a:srgbClr val="9AA6C7">
                <a:alpha val="30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10020795" y="416966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0" name="Image 8" descr="/home/claude/icons/bug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0025" y="4318894"/>
            <a:ext cx="323332" cy="32333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093479" y="4892040"/>
            <a:ext cx="247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Integration Workflows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layered, product-development style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728655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" y="1920240"/>
            <a:ext cx="777240" cy="77724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7" name="Image 0" descr="/home/claude/icons/desk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398" y="21067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0" y="1856232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194560" y="2221992"/>
            <a:ext cx="8808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React.js and TypeScript, with Tailwind CSS for responsive, reusable user interfaces.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 rot="10800000">
            <a:off x="5967832" y="2944368"/>
            <a:ext cx="256032" cy="219456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3182112"/>
            <a:ext cx="10728655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1165860" y="3410712"/>
            <a:ext cx="777240" cy="77724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3" name="Image 1" descr="/home/claude/icons/cogs_whit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398" y="3597250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94560" y="3346704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2194560" y="3712464"/>
            <a:ext cx="8808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core business workflows: transactions, revenue, refunds, payouts, and client management.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 rot="10800000">
            <a:off x="5967832" y="4434840"/>
            <a:ext cx="256032" cy="219456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4672584"/>
            <a:ext cx="10728655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1165860" y="4901184"/>
            <a:ext cx="777240" cy="77724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9" name="Image 2" descr="/home/claude/icons/code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398" y="5087722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94560" y="4837176"/>
            <a:ext cx="8899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Layer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2194560" y="5202936"/>
            <a:ext cx="8808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 used for version tracking and collaborative development.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Six-Week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36776"/>
            <a:ext cx="621792" cy="62179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6" name="Image 0" descr="/home/claude/icons/git_whit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02" y="1786006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618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36192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Foundations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workflows, repository structure, branching and pull requests.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645152" y="1636776"/>
            <a:ext cx="621792" cy="62179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2" name="Image 1" descr="/home/claude/icons/laptopcode_whit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382" y="1786006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618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376672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45152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React.js, TypeScript and Tailwind CSS on real interfaces.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8485632" y="1636776"/>
            <a:ext cx="621792" cy="62179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18" name="Image 2" descr="/home/claude/icons/paintbru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862" y="1786006"/>
            <a:ext cx="323332" cy="3233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17152" y="1618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217152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Development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485632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interfaces; improving design and usability of app pages.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804672" y="4014216"/>
            <a:ext cx="621792" cy="62179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24" name="Image 3" descr="/home/claude/icons/wallet_whit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" y="4163446"/>
            <a:ext cx="323332" cy="3233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36192" y="3995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536192" y="4251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Finance Module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04672" y="496519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Transaction, Revenue, Refund and Payout screens; refund workflow.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8912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29" name="Shape 23"/>
          <p:cNvSpPr/>
          <p:nvPr/>
        </p:nvSpPr>
        <p:spPr>
          <a:xfrm>
            <a:off x="4645152" y="4014216"/>
            <a:ext cx="621792" cy="62179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30" name="Image 4" descr="/home/claude/icons/users_white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382" y="4163446"/>
            <a:ext cx="323332" cy="3233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76672" y="3995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376672" y="4251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Development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645152" y="496519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feature changes; understanding how modules work together.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2960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35" name="Shape 28"/>
          <p:cNvSpPr/>
          <p:nvPr/>
        </p:nvSpPr>
        <p:spPr>
          <a:xfrm>
            <a:off x="8485632" y="4014216"/>
            <a:ext cx="621792" cy="621792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36" name="Image 5" descr="/home/claude/icons/bug_whit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862" y="4163446"/>
            <a:ext cx="323332" cy="3233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17152" y="3995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9217152" y="42519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Improvement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485632" y="496519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features, debugging issues, refining usability.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and Key Learnings</a:t>
            </a:r>
            <a:endParaRPr lang="en-US" sz="3000" dirty="0"/>
          </a:p>
        </p:txBody>
      </p:sp>
      <p:pic>
        <p:nvPicPr>
          <p:cNvPr id="4" name="Image 0" descr="/home/claude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475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7824" y="13898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Product-oriented software development</a:t>
            </a:r>
            <a:endParaRPr lang="en-US" sz="1150" dirty="0"/>
          </a:p>
        </p:txBody>
      </p:sp>
      <p:pic>
        <p:nvPicPr>
          <p:cNvPr id="6" name="Image 1" descr="/home/claude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1952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" y="18470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and TypeScript development</a:t>
            </a:r>
            <a:endParaRPr lang="en-US" sz="1150" dirty="0"/>
          </a:p>
        </p:txBody>
      </p:sp>
      <p:pic>
        <p:nvPicPr>
          <p:cNvPr id="8" name="Image 2" descr="/home/claude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9152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7824" y="23042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user-interface development</a:t>
            </a:r>
            <a:endParaRPr lang="en-US" sz="1150" dirty="0"/>
          </a:p>
        </p:txBody>
      </p:sp>
      <p:pic>
        <p:nvPicPr>
          <p:cNvPr id="10" name="Image 3" descr="/home/claude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16352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7824" y="27614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financial workflow development</a:t>
            </a:r>
            <a:endParaRPr lang="en-US" sz="1150" dirty="0"/>
          </a:p>
        </p:txBody>
      </p:sp>
      <p:pic>
        <p:nvPicPr>
          <p:cNvPr id="12" name="Image 4" descr="/home/claude/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444752"/>
            <a:ext cx="237744" cy="2377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672584" y="13898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and revenue management</a:t>
            </a:r>
            <a:endParaRPr lang="en-US" sz="1150" dirty="0"/>
          </a:p>
        </p:txBody>
      </p:sp>
      <p:pic>
        <p:nvPicPr>
          <p:cNvPr id="14" name="Image 5" descr="/home/claude/icon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901952"/>
            <a:ext cx="237744" cy="23774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672584" y="18470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lifecycle implementation</a:t>
            </a:r>
            <a:endParaRPr lang="en-US" sz="1150" dirty="0"/>
          </a:p>
        </p:txBody>
      </p:sp>
      <p:pic>
        <p:nvPicPr>
          <p:cNvPr id="16" name="Image 6" descr="/home/claude/icons/che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2359152"/>
            <a:ext cx="237744" cy="23774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672584" y="23042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tracking</a:t>
            </a:r>
            <a:endParaRPr lang="en-US" sz="1150" dirty="0"/>
          </a:p>
        </p:txBody>
      </p:sp>
      <p:pic>
        <p:nvPicPr>
          <p:cNvPr id="18" name="Image 7" descr="/home/claude/icons/che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2816352"/>
            <a:ext cx="237744" cy="23774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672584" y="27614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management &amp; financial information</a:t>
            </a:r>
            <a:endParaRPr lang="en-US" sz="1150" dirty="0"/>
          </a:p>
        </p:txBody>
      </p:sp>
      <p:pic>
        <p:nvPicPr>
          <p:cNvPr id="20" name="Image 8" descr="/home/claude/icons/check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1444752"/>
            <a:ext cx="237744" cy="23774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8467344" y="13898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collaborative development</a:t>
            </a:r>
            <a:endParaRPr lang="en-US" sz="1150" dirty="0"/>
          </a:p>
        </p:txBody>
      </p:sp>
      <p:pic>
        <p:nvPicPr>
          <p:cNvPr id="22" name="Image 9" descr="/home/claude/icons/chec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1901952"/>
            <a:ext cx="237744" cy="237744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8467344" y="18470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improving frontend features</a:t>
            </a:r>
            <a:endParaRPr lang="en-US" sz="1150" dirty="0"/>
          </a:p>
        </p:txBody>
      </p:sp>
      <p:pic>
        <p:nvPicPr>
          <p:cNvPr id="24" name="Image 10" descr="/home/claude/icons/check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8160" y="2359152"/>
            <a:ext cx="237744" cy="23774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8467344" y="23042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0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features &amp; application usability</a:t>
            </a:r>
            <a:endParaRPr lang="en-US" sz="1150" dirty="0"/>
          </a:p>
        </p:txBody>
      </p:sp>
      <p:sp>
        <p:nvSpPr>
          <p:cNvPr id="26" name="Shape 13"/>
          <p:cNvSpPr/>
          <p:nvPr/>
        </p:nvSpPr>
        <p:spPr>
          <a:xfrm>
            <a:off x="548640" y="3429000"/>
            <a:ext cx="11094415" cy="297180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7" name="Shape 14"/>
          <p:cNvSpPr/>
          <p:nvPr/>
        </p:nvSpPr>
        <p:spPr>
          <a:xfrm>
            <a:off x="5638648" y="3703320"/>
            <a:ext cx="914400" cy="914400"/>
          </a:xfrm>
          <a:prstGeom prst="ellipse">
            <a:avLst/>
          </a:prstGeom>
          <a:solidFill>
            <a:srgbClr val="2A356E"/>
          </a:solidFill>
          <a:ln/>
        </p:spPr>
      </p:sp>
      <p:pic>
        <p:nvPicPr>
          <p:cNvPr id="28" name="Image 11" descr="/home/claude/icons/handshake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8104" y="3922776"/>
            <a:ext cx="475488" cy="47548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097280" y="470916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0" name="Text 16"/>
          <p:cNvSpPr/>
          <p:nvPr/>
        </p:nvSpPr>
        <p:spPr>
          <a:xfrm>
            <a:off x="1463040" y="5257800"/>
            <a:ext cx="9265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provided practical exposure to software product development and helped bridge the gap between theoretical knowledge and real-world application.</a:t>
            </a:r>
            <a:endParaRPr lang="en-US" sz="1250" dirty="0"/>
          </a:p>
        </p:txBody>
      </p:sp>
      <p:sp>
        <p:nvSpPr>
          <p:cNvPr id="31" name="Text 17"/>
          <p:cNvSpPr/>
          <p:nvPr/>
        </p:nvSpPr>
        <p:spPr>
          <a:xfrm>
            <a:off x="1463040" y="5989320"/>
            <a:ext cx="9265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Babli Dasgupta   |   2410030708   |   MarTechAdda Pvt. Ltd.</a:t>
            </a:r>
            <a:endParaRPr lang="en-US" sz="1100" dirty="0"/>
          </a:p>
        </p:txBody>
      </p:sp>
      <p:sp>
        <p:nvSpPr>
          <p:cNvPr id="32" name="Text 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2026-08-31T12:00:56Z</dcterms:created>
  <dcterms:modified xsi:type="dcterms:W3CDTF">2026-08-31T12:00:56Z</dcterms:modified>
</cp:coreProperties>
</file>